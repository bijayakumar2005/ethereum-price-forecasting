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91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8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76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15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05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6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2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73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04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8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1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D7E34B-6645-4A82-800A-B210B0A5E49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8F6CF64-7D59-4C82-891C-349CFC20761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4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3D2D4F-12E3-47FA-B229-CBE2B1B2A5FF}"/>
              </a:ext>
            </a:extLst>
          </p:cNvPr>
          <p:cNvCxnSpPr/>
          <p:nvPr/>
        </p:nvCxnSpPr>
        <p:spPr>
          <a:xfrm>
            <a:off x="733425" y="923925"/>
            <a:ext cx="6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C9B717F-67A7-AA8C-D29F-20DB285C6827}"/>
              </a:ext>
            </a:extLst>
          </p:cNvPr>
          <p:cNvSpPr txBox="1"/>
          <p:nvPr/>
        </p:nvSpPr>
        <p:spPr>
          <a:xfrm>
            <a:off x="733425" y="942975"/>
            <a:ext cx="65055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dirty="0"/>
              <a:t>Big Data Analytics Project</a:t>
            </a:r>
            <a:br>
              <a:rPr lang="en-IN" sz="4000" b="1" i="1" dirty="0"/>
            </a:br>
            <a:r>
              <a:rPr lang="en-US" sz="4000" b="1" i="1" dirty="0"/>
              <a:t>Predictive Regression Model using PySpark</a:t>
            </a:r>
            <a:endParaRPr lang="en-IN" sz="40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80257-38D5-3480-A866-53279A2EA742}"/>
              </a:ext>
            </a:extLst>
          </p:cNvPr>
          <p:cNvSpPr txBox="1"/>
          <p:nvPr/>
        </p:nvSpPr>
        <p:spPr>
          <a:xfrm>
            <a:off x="609600" y="4035282"/>
            <a:ext cx="237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Statement:</a:t>
            </a:r>
          </a:p>
          <a:p>
            <a:endParaRPr lang="en-IN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3879B-2A7B-526A-233B-355AA502BCB9}"/>
              </a:ext>
            </a:extLst>
          </p:cNvPr>
          <p:cNvCxnSpPr>
            <a:cxnSpLocks/>
          </p:cNvCxnSpPr>
          <p:nvPr/>
        </p:nvCxnSpPr>
        <p:spPr>
          <a:xfrm>
            <a:off x="609600" y="4479490"/>
            <a:ext cx="448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A68406-969B-C998-1ACD-E91ACCACAB6D}"/>
              </a:ext>
            </a:extLst>
          </p:cNvPr>
          <p:cNvSpPr txBox="1"/>
          <p:nvPr/>
        </p:nvSpPr>
        <p:spPr>
          <a:xfrm>
            <a:off x="609600" y="4622365"/>
            <a:ext cx="4581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Ethereum price fluctuations, clean and validate the dataset, apply regression models to forecast price trends, and report findings with plots and insights.</a:t>
            </a:r>
          </a:p>
          <a:p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CC518F-39EC-3C33-B1E5-291DA84C7C25}"/>
              </a:ext>
            </a:extLst>
          </p:cNvPr>
          <p:cNvCxnSpPr>
            <a:cxnSpLocks/>
          </p:cNvCxnSpPr>
          <p:nvPr/>
        </p:nvCxnSpPr>
        <p:spPr>
          <a:xfrm>
            <a:off x="6229350" y="2296344"/>
            <a:ext cx="0" cy="4075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9F08CA-0728-D918-1833-B2DC466D2928}"/>
              </a:ext>
            </a:extLst>
          </p:cNvPr>
          <p:cNvSpPr txBox="1"/>
          <p:nvPr/>
        </p:nvSpPr>
        <p:spPr>
          <a:xfrm>
            <a:off x="6315075" y="2696454"/>
            <a:ext cx="44576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Members :- </a:t>
            </a:r>
          </a:p>
          <a:p>
            <a:r>
              <a:rPr lang="en-IN" dirty="0"/>
              <a:t>Subrat Malik </a:t>
            </a:r>
            <a:br>
              <a:rPr lang="en-IN" dirty="0"/>
            </a:br>
            <a:r>
              <a:rPr lang="en-IN" dirty="0"/>
              <a:t>Shyam Sundar Bala</a:t>
            </a:r>
            <a:br>
              <a:rPr lang="en-IN" dirty="0"/>
            </a:br>
            <a:r>
              <a:rPr lang="en-IN" dirty="0"/>
              <a:t>Amlan Jyoti Parida</a:t>
            </a:r>
            <a:br>
              <a:rPr lang="en-IN" dirty="0"/>
            </a:br>
            <a:r>
              <a:rPr lang="en-IN" dirty="0"/>
              <a:t>Basak Pramanik</a:t>
            </a:r>
            <a:br>
              <a:rPr lang="en-IN" dirty="0"/>
            </a:br>
            <a:r>
              <a:rPr lang="en-IN" dirty="0"/>
              <a:t>Swagnik Shit</a:t>
            </a:r>
            <a:br>
              <a:rPr lang="en-IN" dirty="0"/>
            </a:br>
            <a:r>
              <a:rPr lang="en-IN" dirty="0"/>
              <a:t>Swattik Shit</a:t>
            </a:r>
            <a:br>
              <a:rPr lang="en-IN" dirty="0"/>
            </a:br>
            <a:r>
              <a:rPr lang="en-IN" dirty="0"/>
              <a:t>Bijaya Kumar Rout </a:t>
            </a:r>
            <a:br>
              <a:rPr lang="en-IN" dirty="0"/>
            </a:br>
            <a:r>
              <a:rPr lang="en-IN" dirty="0"/>
              <a:t>Chandan Goria</a:t>
            </a:r>
            <a:br>
              <a:rPr lang="en-IN" dirty="0"/>
            </a:br>
            <a:r>
              <a:rPr lang="en-IN" dirty="0"/>
              <a:t>Sai Sankar Sethi</a:t>
            </a:r>
            <a:br>
              <a:rPr lang="en-IN" dirty="0"/>
            </a:br>
            <a:r>
              <a:rPr lang="en-IN" dirty="0"/>
              <a:t>Brajendra Prasad Samal </a:t>
            </a:r>
            <a:br>
              <a:rPr lang="en-IN" dirty="0"/>
            </a:br>
            <a:r>
              <a:rPr lang="en-IN" dirty="0"/>
              <a:t>Rakesh Samal</a:t>
            </a:r>
            <a:br>
              <a:rPr lang="en-IN" dirty="0"/>
            </a:br>
            <a:r>
              <a:rPr lang="en-IN" dirty="0"/>
              <a:t>Alok Kumar Bisoi 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A21D66-6B68-BCF8-1CD4-398E78C504C7}"/>
              </a:ext>
            </a:extLst>
          </p:cNvPr>
          <p:cNvSpPr txBox="1"/>
          <p:nvPr/>
        </p:nvSpPr>
        <p:spPr>
          <a:xfrm>
            <a:off x="6327276" y="2296344"/>
            <a:ext cx="3880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Group Name: </a:t>
            </a:r>
            <a:r>
              <a:rPr lang="en-IN" b="1" dirty="0"/>
              <a:t>- </a:t>
            </a:r>
            <a:r>
              <a:rPr lang="en-IN" dirty="0"/>
              <a:t>DEVDYNAMOS</a:t>
            </a:r>
          </a:p>
        </p:txBody>
      </p:sp>
    </p:spTree>
    <p:extLst>
      <p:ext uri="{BB962C8B-B14F-4D97-AF65-F5344CB8AC3E}">
        <p14:creationId xmlns:p14="http://schemas.microsoft.com/office/powerpoint/2010/main" val="327117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E0208C-802E-4445-371A-89D0E788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15" t="5972" r="3815" b="4179"/>
          <a:stretch>
            <a:fillRect/>
          </a:stretch>
        </p:blipFill>
        <p:spPr>
          <a:xfrm>
            <a:off x="7524749" y="286603"/>
            <a:ext cx="4667251" cy="6057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F412-67CC-64E3-7CC8-E95D89CB5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779" y="1831798"/>
            <a:ext cx="7126544" cy="441741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project aims to develop a comprehensive pipeline for Ethereum price forecasting using scalable Big Data technologies and machine learning models.</a:t>
            </a:r>
          </a:p>
          <a:p>
            <a:pPr marL="0" indent="0">
              <a:buNone/>
            </a:pPr>
            <a:r>
              <a:rPr lang="en-IN" b="1" dirty="0"/>
              <a:t>Specific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 </a:t>
            </a:r>
            <a:r>
              <a:rPr lang="en-US" sz="1700" dirty="0"/>
              <a:t>Perform data exploration and descriptive analysis using </a:t>
            </a:r>
            <a:r>
              <a:rPr lang="en-US" sz="1700" dirty="0" err="1"/>
              <a:t>PySpark</a:t>
            </a:r>
            <a:r>
              <a:rPr lang="en-US" sz="1700" dirty="0"/>
              <a:t> and 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 Apply data cleaning, preprocessing, feature engineering, and validation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 Construct and train regression models using Spark </a:t>
            </a:r>
            <a:r>
              <a:rPr lang="en-US" sz="1700" dirty="0" err="1"/>
              <a:t>MLlib</a:t>
            </a:r>
            <a:endParaRPr 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 Assess model accuracy through RMSE, MAE, and R²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 Visualize predictions and insights using Matplotlib, Seaborn, and </a:t>
            </a:r>
            <a:r>
              <a:rPr lang="en-US" sz="1700" dirty="0" err="1"/>
              <a:t>Plotly</a:t>
            </a:r>
            <a:endParaRPr 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 Generate a reliable forecasting workflow suitable for large-scale datasets</a:t>
            </a:r>
            <a:endParaRPr lang="en-IN" sz="1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D64CA-890E-96C8-8BA0-3A281D89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+mn-lt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215575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89B7B9-8F2C-FA47-8395-66094FD90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825" t="19404" r="14096" b="9149"/>
          <a:stretch>
            <a:fillRect/>
          </a:stretch>
        </p:blipFill>
        <p:spPr>
          <a:xfrm>
            <a:off x="7005483" y="2284525"/>
            <a:ext cx="4714569" cy="3203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E61051-B851-8A4C-86CD-8FEEC200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b="1" i="1" dirty="0">
                <a:latin typeface="+mn-lt"/>
              </a:rPr>
              <a:t>Technology Stack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DB7A7-1128-E28F-5087-9532A346A21D}"/>
              </a:ext>
            </a:extLst>
          </p:cNvPr>
          <p:cNvSpPr txBox="1"/>
          <p:nvPr/>
        </p:nvSpPr>
        <p:spPr>
          <a:xfrm>
            <a:off x="920297" y="1816018"/>
            <a:ext cx="549033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Programming &amp; Environment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 Python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Jupyter Notebook / Google Colab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Big Data Processing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 PySpark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Spark SQL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Machine Learning &amp; Data Modelling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Spark MLlib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Vector Assembler, Regression Models, Cross Validator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Data Analysis &amp; Numerical Computing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Pandas 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NumPy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Visualization Tools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Matplotlib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Seaborn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Plotly (for interactive visualizations)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600" dirty="0"/>
              <a:t>Data Source</a:t>
            </a:r>
          </a:p>
          <a:p>
            <a:pPr marL="742950" lvl="1" indent="-28575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CSV dataset file</a:t>
            </a:r>
          </a:p>
        </p:txBody>
      </p:sp>
      <p:sp>
        <p:nvSpPr>
          <p:cNvPr id="6" name="AutoShape 2" descr="in technology used slide edit this">
            <a:extLst>
              <a:ext uri="{FF2B5EF4-FFF2-40B4-BE49-F238E27FC236}">
                <a16:creationId xmlns:a16="http://schemas.microsoft.com/office/drawing/2014/main" id="{5961FD54-0017-E6B5-D420-5C4A9667EF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20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CEA6-3837-72A6-0A36-943F369F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+mn-lt"/>
              </a:rPr>
              <a:t>Data Collection &amp; 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3945-A6A3-E3D2-5505-33A823648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845734"/>
            <a:ext cx="5771535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Dataset collected from 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US" dirty="0"/>
              <a:t>Dataset </a:t>
            </a:r>
            <a:r>
              <a:rPr lang="en-US" dirty="0" err="1"/>
              <a:t>Columns:Unix</a:t>
            </a:r>
            <a:r>
              <a:rPr lang="en-US" dirty="0"/>
              <a:t> Timestamp (record time), Date (readable timestamp), Symbol (ETHUSD), Open (opening price), High (highest price), Low (lowest price), Close (closing price), Volume (trading volume).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data is ideal for time-series analysis, regression modeling, and price prediction tasks using </a:t>
            </a:r>
            <a:r>
              <a:rPr lang="en-US" dirty="0" err="1"/>
              <a:t>PySpark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D2E18-3769-4471-F1D8-079BBFAD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82" y="2052211"/>
            <a:ext cx="5144656" cy="3411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026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443EE7-EA8E-1C96-C036-264851A4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84" y="1845734"/>
            <a:ext cx="6070184" cy="25961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03B377-776B-BFC0-4DCA-618828E3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+mn-lt"/>
              </a:rPr>
              <a:t>Dataset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2E71-15C7-4B28-BE50-6D09495B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77" y="1892165"/>
            <a:ext cx="5795133" cy="2480460"/>
          </a:xfrm>
        </p:spPr>
        <p:txBody>
          <a:bodyPr/>
          <a:lstStyle/>
          <a:p>
            <a:r>
              <a:rPr lang="en-IN" dirty="0"/>
              <a:t>Steps performed: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Imported necessary PySpark libraries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Created Spark Session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</a:t>
            </a:r>
            <a:r>
              <a:rPr lang="en-US" dirty="0"/>
              <a:t>Loaded the dataset into a Spark Data Frame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906D11-00B1-DE12-15CB-0D5635FE6D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76"/>
          <a:stretch>
            <a:fillRect/>
          </a:stretch>
        </p:blipFill>
        <p:spPr>
          <a:xfrm>
            <a:off x="188041" y="4768644"/>
            <a:ext cx="8512278" cy="9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5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E34F-669D-8F2E-DDE6-B7C91725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+mn-lt"/>
              </a:rPr>
              <a:t>Adding Gaussian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D8225-BC3A-3032-488B-8AF7B744A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Gaussian Noise was added: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To make the model more robust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To simulate real-world variation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Helps avoid overfitting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A6E5D-33BC-EB11-1763-62B108F8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922" y="3857414"/>
            <a:ext cx="8301624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9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90C4-AF20-C310-FA58-049D4A255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+mn-lt"/>
              </a:rPr>
              <a:t>Data Cleaning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C8E38-486A-802C-7ACD-0D41F71EC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67" y="2011731"/>
            <a:ext cx="10058400" cy="4023360"/>
          </a:xfrm>
        </p:spPr>
        <p:txBody>
          <a:bodyPr/>
          <a:lstStyle/>
          <a:p>
            <a:r>
              <a:rPr lang="en-IN" dirty="0"/>
              <a:t>Tasks performed: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dirty="0"/>
              <a:t>Removed missing or null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Fixed incorrect datatypes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Handled outliers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Validated feature consistency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82CD7-95AA-2BDE-C470-C42904607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16"/>
          <a:stretch>
            <a:fillRect/>
          </a:stretch>
        </p:blipFill>
        <p:spPr>
          <a:xfrm>
            <a:off x="4208207" y="1846613"/>
            <a:ext cx="7983794" cy="1188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CE0CC5-12F1-A3E9-E426-71ABAA47E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7"/>
          <a:stretch>
            <a:fillRect/>
          </a:stretch>
        </p:blipFill>
        <p:spPr>
          <a:xfrm>
            <a:off x="4935666" y="2684206"/>
            <a:ext cx="7148179" cy="19435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98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187746-A6F0-74BA-0011-A58B0EBC9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6"/>
          <a:stretch>
            <a:fillRect/>
          </a:stretch>
        </p:blipFill>
        <p:spPr>
          <a:xfrm>
            <a:off x="4975123" y="1996931"/>
            <a:ext cx="7094957" cy="32338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8F0D6C-08C7-AB55-9489-E8BB7A19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latin typeface="+mn-lt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5178A-BF96-A76C-302E-94F0B110F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983" y="1875231"/>
            <a:ext cx="10058400" cy="4023360"/>
          </a:xfrm>
        </p:spPr>
        <p:txBody>
          <a:bodyPr/>
          <a:lstStyle/>
          <a:p>
            <a:r>
              <a:rPr lang="en-IN" dirty="0"/>
              <a:t>Steps performed: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Feature transformation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Normalization / 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Creating meaningful derived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US" dirty="0"/>
              <a:t>Selecting relevant inputs for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39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3AA217-D0E2-CA5C-9DB6-B610B6CB9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2168" y="1888705"/>
            <a:ext cx="5131107" cy="4022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</a:t>
            </a:r>
            <a:r>
              <a:rPr lang="en-US" dirty="0"/>
              <a:t>Split data into train and test sets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Converted features into a single vector column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IN" dirty="0"/>
              <a:t>Selected regression model (e.g., Linear Regression / RandomForestRegressor)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ECA1B9-7BDC-F814-87C8-B521C704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IN" b="1" i="1" dirty="0">
                <a:latin typeface="+mn-lt"/>
              </a:rPr>
              <a:t>ML Data Preparation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FD7BE8-FBBD-698B-4542-F09C188BD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3543149"/>
            <a:ext cx="9843346" cy="2435957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F5A003F-921B-D5F3-9EE7-A1F642CEAC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19173" y="764745"/>
            <a:ext cx="4937125" cy="26642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6D545-AA22-C54D-8F24-A7E11DE00FA8}"/>
              </a:ext>
            </a:extLst>
          </p:cNvPr>
          <p:cNvSpPr txBox="1"/>
          <p:nvPr/>
        </p:nvSpPr>
        <p:spPr>
          <a:xfrm>
            <a:off x="7306733" y="395413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 Evaluation </a:t>
            </a:r>
          </a:p>
        </p:txBody>
      </p:sp>
    </p:spTree>
    <p:extLst>
      <p:ext uri="{BB962C8B-B14F-4D97-AF65-F5344CB8AC3E}">
        <p14:creationId xmlns:p14="http://schemas.microsoft.com/office/powerpoint/2010/main" val="110112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59E-52CA-E711-0E14-3E97B40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Hyperparameter Tuning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3500C5-75D4-A28D-848C-B1F0F9A4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1" y="1920226"/>
            <a:ext cx="7583770" cy="25548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9386-A38A-4678-4480-66A71DEAC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305" y="3660366"/>
            <a:ext cx="4507653" cy="17779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 Used </a:t>
            </a:r>
            <a:r>
              <a:rPr lang="en-IN" dirty="0" err="1"/>
              <a:t>CrossValidator</a:t>
            </a:r>
            <a:r>
              <a:rPr lang="en-IN" dirty="0"/>
              <a:t> / </a:t>
            </a:r>
            <a:r>
              <a:rPr lang="en-IN" dirty="0" err="1"/>
              <a:t>ParamGridBuilder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 Tuned parameters like:</a:t>
            </a:r>
          </a:p>
          <a:p>
            <a:pPr lvl="5">
              <a:buFont typeface="Wingdings" panose="05000000000000000000" pitchFamily="2" charset="2"/>
              <a:buChar char="§"/>
            </a:pPr>
            <a:r>
              <a:rPr lang="en-IN" dirty="0"/>
              <a:t> maxIter </a:t>
            </a:r>
          </a:p>
          <a:p>
            <a:pPr lvl="5">
              <a:buFont typeface="Wingdings" panose="05000000000000000000" pitchFamily="2" charset="2"/>
              <a:buChar char="§"/>
            </a:pPr>
            <a:r>
              <a:rPr lang="en-IN" dirty="0"/>
              <a:t>regParam</a:t>
            </a:r>
          </a:p>
          <a:p>
            <a:pPr lvl="5">
              <a:buFont typeface="Wingdings" panose="05000000000000000000" pitchFamily="2" charset="2"/>
              <a:buChar char="§"/>
            </a:pPr>
            <a:r>
              <a:rPr lang="en-IN" dirty="0"/>
              <a:t>elasticNetParam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28815-B574-5D09-1100-6D82F93D9936}"/>
              </a:ext>
            </a:extLst>
          </p:cNvPr>
          <p:cNvSpPr txBox="1"/>
          <p:nvPr/>
        </p:nvSpPr>
        <p:spPr>
          <a:xfrm>
            <a:off x="7393305" y="5438365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Selected best model based on RMSE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432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FFF0-C6BE-6B6B-BBE4-CFA913AB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1" y="428971"/>
            <a:ext cx="4143375" cy="1346834"/>
          </a:xfrm>
        </p:spPr>
        <p:txBody>
          <a:bodyPr/>
          <a:lstStyle/>
          <a:p>
            <a:pPr algn="ctr"/>
            <a:r>
              <a:rPr lang="en-IN" b="1" i="1" dirty="0">
                <a:latin typeface="+mn-lt"/>
              </a:rPr>
              <a:t>Actual vs Predicted Values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EB545-6048-67A7-4226-E63D7A67B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3769"/>
            <a:ext cx="4038600" cy="31052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535AC4-CDC7-C9B6-11D8-F8B4853D07FA}"/>
              </a:ext>
            </a:extLst>
          </p:cNvPr>
          <p:cNvSpPr txBox="1"/>
          <p:nvPr/>
        </p:nvSpPr>
        <p:spPr>
          <a:xfrm>
            <a:off x="0" y="1775805"/>
            <a:ext cx="39433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Interpretation: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Compares actual target values with model predictions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Helps check if the model is underfitting/overfitting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F0C2EA6-8619-4D3C-0D43-F80B2192D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40753" y="1514475"/>
            <a:ext cx="7615799" cy="40576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631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7C2F-531D-16D7-C6B1-C32BDA736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40" y="167640"/>
            <a:ext cx="3543300" cy="11277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i="1" dirty="0">
                <a:latin typeface="+mn-lt"/>
              </a:rPr>
              <a:t>RMSE Comparison (Bar Chart)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93899-B07A-022D-67FA-AC6833460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3640" y="1430655"/>
            <a:ext cx="3200400" cy="156223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RMSE used as performance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different models or parameter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model showed lowest RMSE score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F9EBFF-17DA-4FF4-172F-129E0020F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8999"/>
            <a:ext cx="4048125" cy="21316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9ECBA5-963C-C973-3FEE-07A50ED96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14850" y="919928"/>
            <a:ext cx="6934200" cy="44656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46759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E6FF-CC0B-07BD-8C44-669BD0FF9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721995"/>
            <a:ext cx="3200400" cy="56769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i="1" dirty="0">
                <a:latin typeface="+mn-lt"/>
              </a:rPr>
              <a:t>Feature Importance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11E6EE-26E4-D577-F7B1-817EBFA6A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" y="3044189"/>
            <a:ext cx="4029075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AA4E39-9844-DBF3-AEBC-493F451A3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7891" y="1645204"/>
            <a:ext cx="7370072" cy="3526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05E32F-646E-A941-95C5-445B80676A28}"/>
              </a:ext>
            </a:extLst>
          </p:cNvPr>
          <p:cNvSpPr txBox="1"/>
          <p:nvPr/>
        </p:nvSpPr>
        <p:spPr>
          <a:xfrm>
            <a:off x="0" y="1299211"/>
            <a:ext cx="3952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Shows which feature affect the prediction most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Helps understand model’s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Useful for insights &amp; improvements</a:t>
            </a:r>
          </a:p>
        </p:txBody>
      </p:sp>
    </p:spTree>
    <p:extLst>
      <p:ext uri="{BB962C8B-B14F-4D97-AF65-F5344CB8AC3E}">
        <p14:creationId xmlns:p14="http://schemas.microsoft.com/office/powerpoint/2010/main" val="3237689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D07C-8C4F-B0D2-FA38-F3B10304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1520"/>
            <a:ext cx="3200400" cy="1223009"/>
          </a:xfrm>
        </p:spPr>
        <p:txBody>
          <a:bodyPr/>
          <a:lstStyle/>
          <a:p>
            <a:pPr algn="ctr"/>
            <a:r>
              <a:rPr lang="en-IN" b="1" i="1" dirty="0">
                <a:latin typeface="+mn-lt"/>
              </a:rPr>
              <a:t>Residual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2FAEB-2282-DDFF-6608-54673A419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68830"/>
            <a:ext cx="3200400" cy="3379124"/>
          </a:xfrm>
        </p:spPr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Residuals = Actual – Predicted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 good model has residuals centered around zero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Helps diagnose model errors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B784C-4097-690A-8253-1AA97A071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1425"/>
            <a:ext cx="4029075" cy="18726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648D20-402F-9C27-98DB-FC54C39C9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99356" y="1581150"/>
            <a:ext cx="7727142" cy="3648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073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FB7C-57EB-98DC-0950-3F9B86EB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588645"/>
            <a:ext cx="3200400" cy="1499234"/>
          </a:xfrm>
        </p:spPr>
        <p:txBody>
          <a:bodyPr/>
          <a:lstStyle/>
          <a:p>
            <a:pPr algn="ctr"/>
            <a:r>
              <a:rPr lang="en-IN" b="1" i="1" dirty="0">
                <a:latin typeface="+mn-lt"/>
              </a:rPr>
              <a:t>Correlation Heatmap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5F155-B75A-9994-6FBA-C9F01E9D9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300" y="2202180"/>
            <a:ext cx="3200400" cy="33791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US" dirty="0"/>
              <a:t>Shows relationship strength among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IN" dirty="0"/>
              <a:t>Helps identify multicollinearity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Used for feature selection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25A754-22D1-352B-8905-27546C31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9526"/>
            <a:ext cx="4029075" cy="18364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E0779A-F62A-CA28-527D-4671DDC26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56748" y="1457325"/>
            <a:ext cx="7370446" cy="3600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42214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CEFA-FCBC-10AE-72EE-BEAAE9B4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Conclusion &amp; Scope for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F8DC1-1176-AEB5-08F4-D965EB87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Conclusion: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 </a:t>
            </a:r>
            <a:r>
              <a:rPr lang="en-US" dirty="0"/>
              <a:t>Successfully built a PySpark regression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Gained insights through data cleaning, engineering, and ML workflow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Best model achieved good performance (mention RMSE)</a:t>
            </a:r>
          </a:p>
          <a:p>
            <a:pPr marL="0" indent="0">
              <a:buNone/>
            </a:pPr>
            <a:r>
              <a:rPr lang="en-IN" b="1" dirty="0"/>
              <a:t>Scope for Improvement: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dirty="0"/>
              <a:t>Use more advanced ML algorithms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IN" dirty="0"/>
              <a:t>Hyper-tune with more parameters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dirty="0"/>
              <a:t>Add more data for better generalization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Try deep learning or ensemble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3695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192</TotalTime>
  <Words>627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Wingdings</vt:lpstr>
      <vt:lpstr>Retrospect</vt:lpstr>
      <vt:lpstr>PowerPoint Presentation</vt:lpstr>
      <vt:lpstr>Objective</vt:lpstr>
      <vt:lpstr>Technology Stack Overview</vt:lpstr>
      <vt:lpstr>Data Collection &amp; Dataset Description</vt:lpstr>
      <vt:lpstr>Dataset Loading</vt:lpstr>
      <vt:lpstr>Adding Gaussian Noise</vt:lpstr>
      <vt:lpstr>Data Cleaning &amp; Validation</vt:lpstr>
      <vt:lpstr>Feature Engineering</vt:lpstr>
      <vt:lpstr>ML Data Preparation</vt:lpstr>
      <vt:lpstr>Hyperparameter Tuning</vt:lpstr>
      <vt:lpstr>Actual vs Predicted Values</vt:lpstr>
      <vt:lpstr>RMSE Comparison (Bar Chart)</vt:lpstr>
      <vt:lpstr>Feature Importance</vt:lpstr>
      <vt:lpstr>Residual Distribution</vt:lpstr>
      <vt:lpstr>Correlation Heatmap</vt:lpstr>
      <vt:lpstr>Conclusion &amp; Scope for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Swagnik ..</dc:creator>
  <cp:lastModifiedBy>Swagnik ..</cp:lastModifiedBy>
  <cp:revision>9</cp:revision>
  <dcterms:created xsi:type="dcterms:W3CDTF">2025-11-19T05:26:27Z</dcterms:created>
  <dcterms:modified xsi:type="dcterms:W3CDTF">2025-11-19T18:15:02Z</dcterms:modified>
</cp:coreProperties>
</file>